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8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914400"/>
            <a:ext cx="1005840" cy="1005840"/>
          </a:xfrm>
          <a:prstGeom prst="ellipse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55480" y="1508760"/>
            <a:ext cx="640080" cy="640080"/>
          </a:xfrm>
          <a:prstGeom prst="ellipse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731520"/>
            <a:ext cx="411480" cy="411480"/>
          </a:xfrm>
          <a:prstGeom prst="ellipse">
            <a:avLst/>
          </a:prstGeom>
          <a:solidFill>
            <a:srgbClr val="E6B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23960" y="2743200"/>
            <a:ext cx="594360" cy="594360"/>
          </a:xfrm>
          <a:prstGeom prst="ellipse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3337560"/>
            <a:ext cx="914400" cy="914400"/>
          </a:xfrm>
          <a:prstGeom prst="ellipse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4663440"/>
            <a:ext cx="457200" cy="457200"/>
          </a:xfrm>
          <a:prstGeom prst="ellipse">
            <a:avLst/>
          </a:prstGeom>
          <a:solidFill>
            <a:srgbClr val="E6B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4937760"/>
            <a:ext cx="594360" cy="594360"/>
          </a:xfrm>
          <a:prstGeom prst="ellipse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58200" y="2148840"/>
            <a:ext cx="2468880" cy="64008"/>
          </a:xfrm>
          <a:prstGeom prst="rect">
            <a:avLst/>
          </a:prstGeom>
          <a:solidFill>
            <a:srgbClr val="425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4114800"/>
            <a:ext cx="2377440" cy="64008"/>
          </a:xfrm>
          <a:prstGeom prst="rect">
            <a:avLst/>
          </a:prstGeom>
          <a:solidFill>
            <a:srgbClr val="425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914400"/>
            <a:ext cx="64008" cy="3474720"/>
          </a:xfrm>
          <a:prstGeom prst="rect">
            <a:avLst/>
          </a:prstGeom>
          <a:solidFill>
            <a:srgbClr val="425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0" y="2011680"/>
            <a:ext cx="64008" cy="2926080"/>
          </a:xfrm>
          <a:prstGeom prst="rect">
            <a:avLst/>
          </a:prstGeom>
          <a:solidFill>
            <a:srgbClr val="425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85800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2B8A6"/>
                </a:solidFill>
                <a:latin typeface="Aptos"/>
              </a:rPr>
              <a:t>DATA MINING  /  ALGORITHM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417320"/>
            <a:ext cx="667512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Apriori vs DHP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61488"/>
            <a:ext cx="64008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0">
                <a:solidFill>
                  <a:srgbClr val="D1E0E9"/>
                </a:solidFill>
                <a:latin typeface="Aptos"/>
              </a:rPr>
              <a:t>Hash-based pruning and transaction trimming for frequent itemset mining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77639"/>
            <a:ext cx="1097280" cy="64008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6126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Implementation • Synthetic benchmark • Performance trade-offs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7C7D3"/>
                </a:solidFill>
                <a:latin typeface="Aptos"/>
              </a:rPr>
              <a:t>Updated to match the supplied Python dataset and experiment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B7C7D3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B7C7D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01  / 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What this comparison 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8580" cy="1828800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Baseline: Apriori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21408"/>
            <a:ext cx="3136392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Generate candidate itemsets level by level; prune candidates whose subsets are not frequent.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68580" cy="1828800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Modification: DHP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21408"/>
            <a:ext cx="3136392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Use pair-hash bucket counts to safely prune some 2-itemset candidates before exact counting.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68580" cy="1828800"/>
          </a:xfrm>
          <a:prstGeom prst="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Additional 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21408"/>
            <a:ext cx="3136392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Apply a simplified transaction-trimming step to reduce later-pass data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0243A"/>
                </a:solidFill>
                <a:latin typeface="Aptos"/>
              </a:rPr>
              <a:t>Evaluation dimensions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2628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2B8A6"/>
                </a:solidFill>
                <a:latin typeface="Aptos"/>
              </a:rPr>
              <a:t>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109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57788"/>
                </a:solidFill>
                <a:latin typeface="Aptos"/>
              </a:rPr>
              <a:t>Elapsed time by dataset size and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452628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681728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07B62"/>
                </a:solidFill>
                <a:latin typeface="Aptos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0109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57788"/>
                </a:solidFill>
                <a:latin typeface="Aptos"/>
              </a:rPr>
              <a:t>Peak traced allocation after data is loaded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452628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681728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6A8FB7"/>
                </a:solidFill>
                <a:latin typeface="Aptos"/>
              </a:rPr>
              <a:t>Correctness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109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57788"/>
                </a:solidFill>
                <a:latin typeface="Aptos"/>
              </a:rPr>
              <a:t>Same frequent itemsets/counts across variants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02  /  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Association-rule mining in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8580" cy="1600200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73351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Transaction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3044952" cy="9052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A basket or event containing a set of items, e.g. {bread, milk, eggs}.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68580" cy="1600200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73351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Frequent itemset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3044952" cy="9052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An item combination whose support reaches the chosen minimum 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68580" cy="1600200"/>
          </a:xfrm>
          <a:prstGeom prst="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673351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Association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075688"/>
            <a:ext cx="3044952" cy="9052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A directional implication X → Y evaluated with support and confidence.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47548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0243A"/>
                </a:solidFill>
                <a:latin typeface="Aptos"/>
              </a:rPr>
              <a:t>Key measures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69080"/>
            <a:ext cx="4800600" cy="13716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29768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243A"/>
                </a:solidFill>
                <a:latin typeface="Aptos"/>
              </a:rPr>
              <a:t>Support(X) = transactions containing X / all 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773168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57788"/>
                </a:solidFill>
                <a:latin typeface="Aptos"/>
              </a:rPr>
              <a:t>Confidence(X → Y) = support(X ∪ Y) / support(X)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66160"/>
            <a:ext cx="4937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0243A"/>
                </a:solidFill>
                <a:latin typeface="Aptos"/>
              </a:rPr>
              <a:t>Where it is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041648"/>
            <a:ext cx="4937760" cy="1645920"/>
          </a:xfrm>
          <a:prstGeom prst="rect">
            <a:avLst/>
          </a:prstGeom>
          <a:noFill/>
        </p:spPr>
        <p:txBody>
          <a:bodyPr wrap="square" lIns="45720" rIns="45720" b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3142"/>
                </a:solidFill>
                <a:latin typeface="Aptos"/>
              </a:defRPr>
            </a:pPr>
            <a:r>
              <a:t>Retail basket analysis and cross-selling</a:t>
            </a:r>
          </a:p>
          <a:p>
            <a:pPr>
              <a:spcAft>
                <a:spcPts val="1000"/>
              </a:spcAft>
              <a:defRPr sz="1400">
                <a:solidFill>
                  <a:srgbClr val="1F3142"/>
                </a:solidFill>
                <a:latin typeface="Aptos"/>
              </a:defRPr>
            </a:pPr>
            <a:r>
              <a:t>Web clickstream and content recommendations</a:t>
            </a:r>
          </a:p>
          <a:p>
            <a:pPr>
              <a:spcAft>
                <a:spcPts val="1000"/>
              </a:spcAft>
              <a:defRPr sz="1400">
                <a:solidFill>
                  <a:srgbClr val="1F3142"/>
                </a:solidFill>
                <a:latin typeface="Aptos"/>
              </a:defRPr>
            </a:pPr>
            <a:r>
              <a:t>Diagnosis/event co-occurrence and inventory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07B62"/>
                </a:solidFill>
                <a:latin typeface="Aptos"/>
              </a:rPr>
              <a:t>Scope note: this implementation benchmarks frequent itemset mining; rule generation/confidence reporting is described conceptually, not implemented in the benchmark 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03  / 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Apriori: the downward-closure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4800600" cy="3520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4297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243A"/>
                </a:solidFill>
                <a:latin typeface="Aptos"/>
              </a:rPr>
              <a:t>If an itemset is frequent…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514600"/>
            <a:ext cx="1143000" cy="530352"/>
          </a:xfrm>
          <a:prstGeom prst="round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2432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{A,B,C}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429000"/>
            <a:ext cx="1143000" cy="530352"/>
          </a:xfrm>
          <a:prstGeom prst="round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53872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{A,B}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429000"/>
            <a:ext cx="1143000" cy="530352"/>
          </a:xfrm>
          <a:prstGeom prst="round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53872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{A,C}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3429000"/>
            <a:ext cx="1143000" cy="530352"/>
          </a:xfrm>
          <a:prstGeom prst="round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353872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{B,C}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737360" y="3044952"/>
            <a:ext cx="182880" cy="356616"/>
          </a:xfrm>
          <a:prstGeom prst="line">
            <a:avLst/>
          </a:prstGeom>
          <a:ln w="20320">
            <a:solidFill>
              <a:srgbClr val="65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20240" y="3044952"/>
            <a:ext cx="1097280" cy="356616"/>
          </a:xfrm>
          <a:prstGeom prst="line">
            <a:avLst/>
          </a:prstGeom>
          <a:ln w="20320">
            <a:solidFill>
              <a:srgbClr val="65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20240" y="3044952"/>
            <a:ext cx="2377440" cy="356616"/>
          </a:xfrm>
          <a:prstGeom prst="line">
            <a:avLst/>
          </a:prstGeom>
          <a:ln w="20320">
            <a:solidFill>
              <a:srgbClr val="65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0" y="1645920"/>
            <a:ext cx="4846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0243A"/>
                </a:solidFill>
                <a:latin typeface="Aptos"/>
              </a:rPr>
              <a:t>Candidate generation = join + prune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40280"/>
            <a:ext cx="4800600" cy="2286000"/>
          </a:xfrm>
          <a:prstGeom prst="rect">
            <a:avLst/>
          </a:prstGeom>
          <a:noFill/>
        </p:spPr>
        <p:txBody>
          <a:bodyPr wrap="square" lIns="45720" rIns="45720" b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F3142"/>
                </a:solidFill>
                <a:latin typeface="Aptos"/>
              </a:defRPr>
            </a:pPr>
            <a:r>
              <a:t>Join frequent (k−1)-itemsets with a shared prefix.</a:t>
            </a:r>
          </a:p>
          <a:p>
            <a:pPr>
              <a:spcAft>
                <a:spcPts val="1200"/>
              </a:spcAft>
              <a:defRPr sz="1500">
                <a:solidFill>
                  <a:srgbClr val="1F3142"/>
                </a:solidFill>
                <a:latin typeface="Aptos"/>
              </a:defRPr>
            </a:pPr>
            <a:r>
              <a:t>Prune a k-itemset if any required (k−1)-subset is absent.</a:t>
            </a:r>
          </a:p>
          <a:p>
            <a:pPr>
              <a:spcAft>
                <a:spcPts val="1200"/>
              </a:spcAft>
              <a:defRPr sz="1500">
                <a:solidFill>
                  <a:srgbClr val="1F3142"/>
                </a:solidFill>
                <a:latin typeface="Aptos"/>
              </a:defRPr>
            </a:pPr>
            <a:r>
              <a:t>Count support only for the remaining candidates.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800600"/>
            <a:ext cx="4800600" cy="713232"/>
          </a:xfrm>
          <a:prstGeom prst="roundRect">
            <a:avLst>
              <a:gd name="adj" fmla="val 12000"/>
            </a:avLst>
          </a:prstGeom>
          <a:solidFill>
            <a:srgbClr val="E2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98348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43A"/>
                </a:solidFill>
                <a:latin typeface="Aptos"/>
              </a:rPr>
              <a:t>Main cost: candidate explosion + repeated database scans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03  / 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Apriori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1920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677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88920"/>
            <a:ext cx="1600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43A"/>
                </a:solidFill>
                <a:latin typeface="Aptos"/>
              </a:rPr>
              <a:t>Count singletons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24328" y="2724912"/>
            <a:ext cx="274320" cy="0"/>
          </a:xfrm>
          <a:prstGeom prst="line">
            <a:avLst/>
          </a:prstGeom>
          <a:ln w="25400">
            <a:solidFill>
              <a:srgbClr val="65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71800" y="2103120"/>
            <a:ext cx="1920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22677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331720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788920"/>
            <a:ext cx="1600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43A"/>
                </a:solidFill>
                <a:latin typeface="Aptos"/>
              </a:rPr>
              <a:t>Keep frequent L₁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10328" y="2724912"/>
            <a:ext cx="274320" cy="0"/>
          </a:xfrm>
          <a:prstGeom prst="line">
            <a:avLst/>
          </a:prstGeom>
          <a:ln w="25400">
            <a:solidFill>
              <a:srgbClr val="65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2103120"/>
            <a:ext cx="1920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22677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331720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788920"/>
            <a:ext cx="1600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43A"/>
                </a:solidFill>
                <a:latin typeface="Aptos"/>
              </a:rPr>
              <a:t>Join + prune to C₂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96328" y="2724912"/>
            <a:ext cx="274320" cy="0"/>
          </a:xfrm>
          <a:prstGeom prst="line">
            <a:avLst/>
          </a:prstGeom>
          <a:ln w="25400">
            <a:solidFill>
              <a:srgbClr val="65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43800" y="2103120"/>
            <a:ext cx="1920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0" y="22677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331720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2788920"/>
            <a:ext cx="1600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43A"/>
                </a:solidFill>
                <a:latin typeface="Aptos"/>
              </a:rPr>
              <a:t>Scan &amp; count support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82328" y="2724912"/>
            <a:ext cx="274320" cy="0"/>
          </a:xfrm>
          <a:prstGeom prst="line">
            <a:avLst/>
          </a:prstGeom>
          <a:ln w="25400">
            <a:solidFill>
              <a:srgbClr val="65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29800" y="2103120"/>
            <a:ext cx="1920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66960" y="22677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2331720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2788920"/>
            <a:ext cx="1600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43A"/>
                </a:solidFill>
                <a:latin typeface="Aptos"/>
              </a:rPr>
              <a:t>Repeat until no candidates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160520"/>
            <a:ext cx="10241280" cy="914400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416552"/>
            <a:ext cx="9692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Output: all frequent itemsets and their exact support counts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86400"/>
            <a:ext cx="10149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57788"/>
                </a:solidFill>
                <a:latin typeface="Aptos"/>
              </a:rPr>
              <a:t>Apriori remains the reference implementation used to compare output equality.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04  /  MODIFICATION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DHP: use hash buckets to prune pairs 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8580" cy="1828800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Pass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21408"/>
            <a:ext cx="2953512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Count each item and hash every observed pair into a bucket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68580" cy="1828800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719072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Safe pruning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121408"/>
            <a:ext cx="2953512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If a bucket count is below min support, every pair mapped there is infrequent.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5448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554480"/>
            <a:ext cx="68580" cy="1828800"/>
          </a:xfrm>
          <a:prstGeom prst="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719072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Exact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121408"/>
            <a:ext cx="2953512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A bucket above threshold is only a possibility; candidate pairs still need exact support counting.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77639"/>
            <a:ext cx="10241280" cy="11430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187952"/>
            <a:ext cx="9692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243A"/>
                </a:solidFill>
                <a:latin typeface="Aptos"/>
              </a:rPr>
              <a:t>Hash used in the supplied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17720"/>
            <a:ext cx="9692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07B62"/>
                </a:solidFill>
                <a:latin typeface="Aptos"/>
              </a:rPr>
              <a:t>bucket(a,b) = (a × 1009 + b) mod B     •     default B = 20,011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57784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57788"/>
                </a:solidFill>
                <a:latin typeface="Aptos"/>
              </a:rPr>
              <a:t>Hash collisions can keep extra candidates, but they cannot make a truly frequent pair disappear.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04  / 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Three implementations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8580" cy="1965960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Apriori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3090672" cy="1271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Shared candidate join/prune and exact support counting. No hash pruning or transaction trimming.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68580" cy="1965960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71907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DHP — hash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3090672" cy="1271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Adds first-pass pair-bucket counts; uses the same candidate generator and exact support counter.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68580" cy="1965960"/>
          </a:xfrm>
          <a:prstGeom prst="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DHP — hash + trim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21408"/>
            <a:ext cx="3090672" cy="1271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Adds a simplified transaction-trimming step after passes to reduce later-pass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10424160" cy="960120"/>
          </a:xfrm>
          <a:prstGeom prst="roundRect">
            <a:avLst>
              <a:gd name="adj" fmla="val 12000"/>
            </a:avLst>
          </a:prstGeom>
          <a:solidFill>
            <a:srgbClr val="E2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07408"/>
            <a:ext cx="9875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243A"/>
                </a:solidFill>
                <a:latin typeface="Aptos"/>
              </a:rPr>
              <a:t>Important implementation detail: this is a clear educational Python version, not a reproduction of every optimization in the original DHP paper.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486400"/>
            <a:ext cx="10149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57788"/>
                </a:solidFill>
                <a:latin typeface="Aptos"/>
              </a:rPr>
              <a:t>The code asserts output equality against Apriori for the completed configurations and runs a brute-force self-test at startup.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05  / 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Dataset and benchmark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788920" cy="438912"/>
          </a:xfrm>
          <a:prstGeom prst="roundRect">
            <a:avLst>
              <a:gd name="adj" fmla="val 12000"/>
            </a:avLst>
          </a:prstGeom>
          <a:solidFill>
            <a:srgbClr val="18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Item universe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08760"/>
            <a:ext cx="7680960" cy="43891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609344"/>
            <a:ext cx="7269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F3142"/>
                </a:solidFill>
                <a:latin typeface="Aptos"/>
              </a:rPr>
              <a:t>200 item 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75688"/>
            <a:ext cx="2788920" cy="438912"/>
          </a:xfrm>
          <a:prstGeom prst="roundRect">
            <a:avLst>
              <a:gd name="adj" fmla="val 12000"/>
            </a:avLst>
          </a:prstGeom>
          <a:solidFill>
            <a:srgbClr val="18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76272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Observed distinct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75688"/>
            <a:ext cx="7680960" cy="43891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7269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F3142"/>
                </a:solidFill>
                <a:latin typeface="Aptos"/>
              </a:rPr>
              <a:t>190 / 194 / 198 across 2k / 5k / 10k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42615"/>
            <a:ext cx="2788920" cy="438912"/>
          </a:xfrm>
          <a:prstGeom prst="roundRect">
            <a:avLst>
              <a:gd name="adj" fmla="val 12000"/>
            </a:avLst>
          </a:prstGeom>
          <a:solidFill>
            <a:srgbClr val="18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43199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Average transaction length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642615"/>
            <a:ext cx="7680960" cy="43891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743199"/>
            <a:ext cx="7269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F3142"/>
                </a:solidFill>
                <a:latin typeface="Aptos"/>
              </a:rPr>
              <a:t>≈ 11.3 items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9544"/>
            <a:ext cx="2788920" cy="438912"/>
          </a:xfrm>
          <a:prstGeom prst="roundRect">
            <a:avLst>
              <a:gd name="adj" fmla="val 12000"/>
            </a:avLst>
          </a:prstGeom>
          <a:solidFill>
            <a:srgbClr val="18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10127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Dataset origin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209544"/>
            <a:ext cx="7680960" cy="43891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310127"/>
            <a:ext cx="7269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F3142"/>
                </a:solidFill>
                <a:latin typeface="Aptos"/>
              </a:rPr>
              <a:t>Synthetic Quest-style generator; fixed seed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76472"/>
            <a:ext cx="2788920" cy="438912"/>
          </a:xfrm>
          <a:prstGeom prst="roundRect">
            <a:avLst>
              <a:gd name="adj" fmla="val 12000"/>
            </a:avLst>
          </a:prstGeom>
          <a:solidFill>
            <a:srgbClr val="18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77056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Size sweep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776472"/>
            <a:ext cx="7680960" cy="43891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3877056"/>
            <a:ext cx="7269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F3142"/>
                </a:solidFill>
                <a:latin typeface="Aptos"/>
              </a:rPr>
              <a:t>2,000 • 5,000 • 10,000 transactions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43400"/>
            <a:ext cx="2788920" cy="438912"/>
          </a:xfrm>
          <a:prstGeom prst="roundRect">
            <a:avLst>
              <a:gd name="adj" fmla="val 12000"/>
            </a:avLst>
          </a:prstGeom>
          <a:solidFill>
            <a:srgbClr val="18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43984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Support sweep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4343400"/>
            <a:ext cx="7680960" cy="43891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4443984"/>
            <a:ext cx="7269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F3142"/>
                </a:solidFill>
                <a:latin typeface="Aptos"/>
              </a:rPr>
              <a:t>5,000 transactions; 2% and 1% support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910327"/>
            <a:ext cx="2788920" cy="438912"/>
          </a:xfrm>
          <a:prstGeom prst="roundRect">
            <a:avLst>
              <a:gd name="adj" fmla="val 12000"/>
            </a:avLst>
          </a:prstGeom>
          <a:solidFill>
            <a:srgbClr val="18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10912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Bucket sweep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910327"/>
            <a:ext cx="7680960" cy="43891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5010912"/>
            <a:ext cx="7269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F3142"/>
                </a:solidFill>
                <a:latin typeface="Aptos"/>
              </a:rPr>
              <a:t>5,000 transactions; B = 997, 4,999, 20,011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07B62"/>
                </a:solidFill>
                <a:latin typeface="Aptos"/>
              </a:rPr>
              <a:t>Timing shown in this deck is a single completed run per configuration; treat small differences as indicative, not statistically conclusive.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06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Result 1 — runtime grows with dataset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graph1_time_vs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77240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691640"/>
            <a:ext cx="3063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691640"/>
            <a:ext cx="68580" cy="1234440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856232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10k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2258568"/>
            <a:ext cx="26791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Apriori: 0.804 s
DHP hash only: 0.919 s
DHP + trim: 1.034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154680"/>
            <a:ext cx="3063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3154680"/>
            <a:ext cx="68580" cy="1234440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3319272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721608"/>
            <a:ext cx="26791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On this synthetic workload, hash overhead and trimming cost outweigh pruning savings in elapsed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800600"/>
            <a:ext cx="28346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57788"/>
                </a:solidFill>
                <a:latin typeface="Aptos"/>
              </a:rPr>
              <a:t>All three returned 4,370 frequent itemsets at 10k / 1%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06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Result 2 — memory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graph2_memory_vs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77240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691640"/>
            <a:ext cx="3063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691640"/>
            <a:ext cx="68580" cy="1234440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856232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Hash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2258568"/>
            <a:ext cx="26791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Lower peak traced memory than Apriori in these measured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154680"/>
            <a:ext cx="3063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3154680"/>
            <a:ext cx="68580" cy="1234440"/>
          </a:xfrm>
          <a:prstGeom prst="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3319272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Hash + trim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721608"/>
            <a:ext cx="26791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Memory is higher here; the extra bucket table and trimmed transaction structures have a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800600"/>
            <a:ext cx="283464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57788"/>
                </a:solidFill>
                <a:latin typeface="Aptos"/>
              </a:rPr>
              <a:t>Memory uses tracemalloc peak after input loading—not total process RSS.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06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Result 3 — lower support means more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graph3_time_vs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77240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691640"/>
            <a:ext cx="3063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691640"/>
            <a:ext cx="68580" cy="1234440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856232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At 2%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2258568"/>
            <a:ext cx="26791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1,188 frequent itemsets; fewer candidates and lower runtime.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154680"/>
            <a:ext cx="3063240" cy="123444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3154680"/>
            <a:ext cx="68580" cy="1234440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3319272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At 1%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721608"/>
            <a:ext cx="26791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4,369 frequent itemsets; more combinations survive pruning.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800600"/>
            <a:ext cx="2788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57788"/>
                </a:solidFill>
                <a:latin typeface="Aptos"/>
              </a:rPr>
              <a:t>Expected pattern: lowering minimum support increases search 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06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Result 4 — candidate pruning vs transaction trimming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graph4_candidates_per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822960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23960" y="173736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23960" y="1737360"/>
            <a:ext cx="68580" cy="1325880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5128" y="1901952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Hash pruning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2304288"/>
            <a:ext cx="226771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Targets C₂ directly. Collisions limit pruning power.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33756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3337560"/>
            <a:ext cx="68580" cy="1325880"/>
          </a:xfrm>
          <a:prstGeom prst="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3502152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Transaction trimming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3904487"/>
            <a:ext cx="226771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May reduce items scanned later, but adds per-pass bookkeeping.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074920"/>
            <a:ext cx="2560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57788"/>
                </a:solidFill>
                <a:latin typeface="Aptos"/>
              </a:rPr>
              <a:t>The trimming rule here is simplified for teaching.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06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Result 5 — bucket count changes the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graph5_bucket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822960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23960" y="173736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23960" y="1737360"/>
            <a:ext cx="68580" cy="1325880"/>
          </a:xfrm>
          <a:prstGeom prst="rect">
            <a:avLst/>
          </a:prstGeom>
          <a:solidFill>
            <a:srgbClr val="E6B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5128" y="1901952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Smaller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2304288"/>
            <a:ext cx="226771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More collisions can retain more candidate pairs.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33756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3337560"/>
            <a:ext cx="68580" cy="1325880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3502152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Larger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3904487"/>
            <a:ext cx="226771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Finer buckets may prune more, but use more table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074920"/>
            <a:ext cx="25603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57788"/>
                </a:solidFill>
                <a:latin typeface="Aptos"/>
              </a:rPr>
              <a:t>Runtime is not monotonic: hashing and memory overhead matter too.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07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Takeaways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164592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8580" cy="1645920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What the run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3090672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On this synthetic workload, Apriori is competitive and often faster; DHP hash-only reduces traced memory in the tested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74720" cy="164592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68580" cy="1645920"/>
          </a:xfrm>
          <a:prstGeom prst="rect">
            <a:avLst/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73351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What DHP contributes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3090672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A principled early filter for C₂, with potential gains when pair candidates are the bottleneck.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74720" cy="164592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68580" cy="1645920"/>
          </a:xfrm>
          <a:prstGeom prst="rect">
            <a:avLst/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73351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Why trim did not 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75688"/>
            <a:ext cx="3090672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57788"/>
                </a:solidFill>
                <a:latin typeface="Aptos"/>
              </a:rPr>
              <a:t>The simplified trim logic and extra processing may cost more than the work saved at this scale.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243A"/>
                </a:solidFill>
                <a:latin typeface="Aptos"/>
              </a:rPr>
              <a:t>Limitations to disclose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10424160" cy="1508760"/>
          </a:xfrm>
          <a:prstGeom prst="rect">
            <a:avLst/>
          </a:prstGeom>
          <a:noFill/>
        </p:spPr>
        <p:txBody>
          <a:bodyPr wrap="square" lIns="45720" rIns="45720" b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3142"/>
                </a:solidFill>
                <a:latin typeface="Aptos"/>
              </a:defRPr>
            </a:pPr>
            <a:r>
              <a:t>Synthetic data only; results may not generalize to real transaction distributions.</a:t>
            </a:r>
          </a:p>
          <a:p>
            <a:pPr>
              <a:spcAft>
                <a:spcPts val="700"/>
              </a:spcAft>
              <a:defRPr sz="1200">
                <a:solidFill>
                  <a:srgbClr val="1F3142"/>
                </a:solidFill>
                <a:latin typeface="Aptos"/>
              </a:defRPr>
            </a:pPr>
            <a:r>
              <a:t>Only a curated subset completed: 2k/5k/10k size, 2 support thresholds, 3 bucket sizes. The provided 20k file is included, but its full benchmark was not completed.</a:t>
            </a:r>
          </a:p>
          <a:p>
            <a:pPr>
              <a:spcAft>
                <a:spcPts val="700"/>
              </a:spcAft>
              <a:defRPr sz="1200">
                <a:solidFill>
                  <a:srgbClr val="1F3142"/>
                </a:solidFill>
                <a:latin typeface="Aptos"/>
              </a:defRPr>
            </a:pPr>
            <a:r>
              <a:t>Single-run timings are exploratory. Full study should use more repeats and verify every bucket-sweep output against Apriori.</a:t>
            </a:r>
          </a:p>
          <a:p>
            <a:pPr>
              <a:spcAft>
                <a:spcPts val="700"/>
              </a:spcAft>
              <a:defRPr sz="1200">
                <a:solidFill>
                  <a:srgbClr val="1F3142"/>
                </a:solidFill>
                <a:latin typeface="Aptos"/>
              </a:defRPr>
            </a:pPr>
            <a:r>
              <a:t>Benchmark measures frequent itemsets; confidence-based rule generation is not part of the supplied experiment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8FB7"/>
                </a:solidFill>
                <a:latin typeface="Aptos"/>
              </a:rPr>
              <a:t>08  / 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Research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60120" cy="50292"/>
          </a:xfrm>
          <a:prstGeom prst="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57788"/>
                </a:solidFill>
                <a:latin typeface="Aptos"/>
              </a:rPr>
              <a:t>APRIORI  /  DHP  • 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57788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98480" cy="102412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691639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92224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64207"/>
            <a:ext cx="946404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243A"/>
                </a:solidFill>
                <a:latin typeface="Aptos"/>
              </a:rPr>
              <a:t>Agrawal, R. &amp; Srikant, R. (1994). “Fast Algorithms for Mining Association Rules in Large Databases.” VLDB, 487–499.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94560"/>
            <a:ext cx="9464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A8FB7"/>
                </a:solidFill>
                <a:latin typeface="Aptos"/>
              </a:rPr>
              <a:t>https://www.vldb.org/conf/1994/P487.PDF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34639"/>
            <a:ext cx="10698480" cy="102412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3017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7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18103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90087"/>
            <a:ext cx="946404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243A"/>
                </a:solidFill>
                <a:latin typeface="Aptos"/>
              </a:rPr>
              <a:t>Park, J. S., Chen, M.-S., &amp; Yu, P. S. (1995). “An Effective Hash-Based Algorithm for Mining Association Rules.” SIGMOD ’95, 175–186. DOI: 10.1145/223784.223813.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520439"/>
            <a:ext cx="9464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A8FB7"/>
                </a:solidFill>
                <a:latin typeface="Aptos"/>
              </a:rPr>
              <a:t>https://doi.org/10.1145/223784.223813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10698480" cy="102412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343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A8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43983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15968"/>
            <a:ext cx="946404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243A"/>
                </a:solidFill>
                <a:latin typeface="Aptos"/>
              </a:rPr>
              <a:t>Han, J., Pei, J., &amp; Yin, Y. (2000). “Mining Frequent Patterns without Candidate Generation.” SIGMOD 2000, 1–12. DOI: 10.1145/342009.335372.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846320"/>
            <a:ext cx="9464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A8FB7"/>
                </a:solidFill>
                <a:latin typeface="Aptos"/>
              </a:rPr>
              <a:t>https://doi.org/10.1145/342009.335372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57788"/>
                </a:solidFill>
                <a:latin typeface="Aptos"/>
              </a:rPr>
              <a:t>References cover the foundational Apriori and DHP papers plus a widely cited alternative frequent-pattern approach.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